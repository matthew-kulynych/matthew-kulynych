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9CED23-FE2C-451A-93BD-A362E641C51A}">
  <a:tblStyle styleId="{8B9CED23-FE2C-451A-93BD-A362E641C5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regular.fntdata"/><Relationship Id="rId20" Type="http://schemas.openxmlformats.org/officeDocument/2006/relationships/slide" Target="slides/slide14.xml"/><Relationship Id="rId42" Type="http://schemas.openxmlformats.org/officeDocument/2006/relationships/font" Target="fonts/Raleway-italic.fntdata"/><Relationship Id="rId41" Type="http://schemas.openxmlformats.org/officeDocument/2006/relationships/font" Target="fonts/Raleway-bold.fntdata"/><Relationship Id="rId22" Type="http://schemas.openxmlformats.org/officeDocument/2006/relationships/slide" Target="slides/slide16.xml"/><Relationship Id="rId44" Type="http://schemas.openxmlformats.org/officeDocument/2006/relationships/font" Target="fonts/Lato-regular.fntdata"/><Relationship Id="rId21" Type="http://schemas.openxmlformats.org/officeDocument/2006/relationships/slide" Target="slides/slide15.xml"/><Relationship Id="rId43" Type="http://schemas.openxmlformats.org/officeDocument/2006/relationships/font" Target="fonts/Raleway-boldItalic.fntdata"/><Relationship Id="rId24" Type="http://schemas.openxmlformats.org/officeDocument/2006/relationships/slide" Target="slides/slide18.xml"/><Relationship Id="rId46" Type="http://schemas.openxmlformats.org/officeDocument/2006/relationships/font" Target="fonts/Lato-italic.fntdata"/><Relationship Id="rId23" Type="http://schemas.openxmlformats.org/officeDocument/2006/relationships/slide" Target="slides/slide17.xml"/><Relationship Id="rId45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La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5cf12e73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a5cf12e73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5cf12e739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a5cf12e739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5cf12e739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a5cf12e739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5cf12e739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a5cf12e739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a5cf12e739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a5cf12e739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5cf12e739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a5cf12e739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5cf12e73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5cf12e73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5cf12e739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5cf12e739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5cf4db6f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5cf4db6f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5cf12e73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5cf12e73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5cf12e739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5cf12e739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5cf12e739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5cf12e739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5cf12e739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a5cf12e739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a5cf12e73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a5cf12e73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5cf12e739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a5cf12e739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a5cf4db6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a5cf4db6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5cf4db6f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a5cf4db6f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a5cf4db6f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a5cf4db6f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a5cf4db6f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a5cf4db6f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5cf4db6f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5cf4db6f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a5cf4db6f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a5cf4db6f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a5cf4db6f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a5cf4db6f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a5cf4db6f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a5cf4db6f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a5cf4db6f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a5cf4db6f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5cf4db6f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a5cf4db6f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a5cf4db6f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a5cf4db6f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a5cf4db6f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a5cf4db6f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a5cf4db6f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a5cf4db6f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5cf4db6f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a5cf4db6f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a5cf4db6f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a5cf4db6f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a5cf4db6f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a5cf4db6f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5cf4db6f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a5cf4db6f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kaggle.com/datasets/viv6369/mls-season-2021-players-stats-and-their-salaries?select=Stats_description.tx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kaggle.com/datasets/viv6369/mls-season-2021-players-stats-and-their-salaries?select=Stats_description.t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Major League Soccer Salaries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Kulynych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2686200" y="2106150"/>
            <a:ext cx="3771600" cy="9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Introduction</a:t>
            </a:r>
            <a:endParaRPr sz="4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997750" y="1533000"/>
            <a:ext cx="7688700" cy="20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How can we predict guaranteed compensation of Major League Soccer players using performance-related statistics from the previous season?</a:t>
            </a:r>
            <a:endParaRPr sz="3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and Goals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Predict guaranteed salary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How clubs can find a reasonable salary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Sports Analytics career aspirations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Over/underpaid players?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Dimensions Before Cleaning:</a:t>
            </a:r>
            <a:endParaRPr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623 Rows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109 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Description</a:t>
            </a:r>
            <a:endParaRPr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Performance statistics from 2021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Salary information from 2021, 2022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Collected from MLS, MLSPA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100" y="1456850"/>
            <a:ext cx="5051899" cy="288312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Descriptions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Response Variable</a:t>
            </a:r>
            <a:endParaRPr b="1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Compensation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Guaranteed Salary (in dollars) 2022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Explanatory Variables</a:t>
            </a:r>
            <a:endParaRPr b="1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Minutes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Total minutes played 2021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Total goals scored 2021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Total assists 2021</a:t>
            </a:r>
            <a:endParaRPr/>
          </a:p>
        </p:txBody>
      </p:sp>
      <p:sp>
        <p:nvSpPr>
          <p:cNvPr id="117" name="Google Shape;117;p1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Explanatory 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Accurate Forward Zone Passes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Accurate pass to attacking half 2021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Successful Dribbles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Beat defender while dribbling 2021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Tackle Success Percentage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Percent tackles where ball is taken 2021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Dataset, Stats_Description.txt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2265300" y="1917000"/>
            <a:ext cx="4613400" cy="13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Data Cleaning, EDA</a:t>
            </a:r>
            <a:endParaRPr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Variable Selection, Creation</a:t>
            </a:r>
            <a:endParaRPr u="sng"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Kept 20 columns initially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Aerial Duel Success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Duels won - Duels lost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Accurate Pass Percentage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(Accurate Passes) / (Total Passes)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Replaced N/A with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Dropped “games started”, high correlation with minutes played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Subsetting</a:t>
            </a:r>
            <a:endParaRPr u="sng"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Removed Goalkeepers</a:t>
            </a:r>
            <a:endParaRPr/>
          </a:p>
        </p:txBody>
      </p:sp>
      <p:sp>
        <p:nvSpPr>
          <p:cNvPr id="129" name="Google Shape;129;p20"/>
          <p:cNvSpPr txBox="1"/>
          <p:nvPr>
            <p:ph idx="2" type="body"/>
          </p:nvPr>
        </p:nvSpPr>
        <p:spPr>
          <a:xfrm>
            <a:off x="4656025" y="523325"/>
            <a:ext cx="3774300" cy="1114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Response Variable</a:t>
            </a:r>
            <a:endParaRPr u="sng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Large range, high values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Log transformation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Shrink the range, keep the ordering</a:t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21588" r="13307" t="0"/>
          <a:stretch/>
        </p:blipFill>
        <p:spPr>
          <a:xfrm>
            <a:off x="4856425" y="1835175"/>
            <a:ext cx="3487735" cy="330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7800" y="131097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Salary Distribution (Pre/Post Transformation)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93425"/>
            <a:ext cx="4500400" cy="279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050" y="1993425"/>
            <a:ext cx="4470696" cy="27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Transformation Distribution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81150"/>
            <a:ext cx="8839204" cy="78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Minutes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850" y="555325"/>
            <a:ext cx="7079148" cy="43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900" y="528250"/>
            <a:ext cx="7320100" cy="4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Assists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575" y="663525"/>
            <a:ext cx="6947776" cy="42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729450" y="1318650"/>
            <a:ext cx="2733900" cy="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Accurate Forward Zone Passes 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9325" y="1031625"/>
            <a:ext cx="5744675" cy="3547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729450" y="1318650"/>
            <a:ext cx="1895100" cy="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Successful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Dribbles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550" y="731175"/>
            <a:ext cx="6656449" cy="411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729450" y="1318650"/>
            <a:ext cx="25716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Tackle Success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Percentage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425" y="869325"/>
            <a:ext cx="6006576" cy="370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530400" y="2177550"/>
            <a:ext cx="8083200" cy="7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Method 1: K-Nearest Neighbors</a:t>
            </a:r>
            <a:endParaRPr sz="4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KNN: Description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729450" y="1853875"/>
            <a:ext cx="3774300" cy="2486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/>
              <a:t>Algorithm</a:t>
            </a:r>
            <a:endParaRPr b="1" sz="1500" u="sng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Predict based on k-closest points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Run through data, calculate distance metric (Gower’s Distance) to each other point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Predicted Y = average Y of k neighbors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 10-Fold CV for predictive accuracy with RMSE</a:t>
            </a:r>
            <a:endParaRPr sz="1500"/>
          </a:p>
        </p:txBody>
      </p:sp>
      <p:sp>
        <p:nvSpPr>
          <p:cNvPr id="201" name="Google Shape;201;p30"/>
          <p:cNvSpPr txBox="1"/>
          <p:nvPr>
            <p:ph idx="2" type="body"/>
          </p:nvPr>
        </p:nvSpPr>
        <p:spPr>
          <a:xfrm>
            <a:off x="4643600" y="1853875"/>
            <a:ext cx="3774300" cy="2854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Pros and Cons</a:t>
            </a:r>
            <a:endParaRPr b="1" sz="1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Handle different shaped distributions (like our data)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More flexible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With correct “k”, handles outliers better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Prone to overfitting</a:t>
            </a:r>
            <a:endParaRPr sz="14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400"/>
              <a:t>Cannot</a:t>
            </a:r>
            <a:r>
              <a:rPr lang="en" sz="1500"/>
              <a:t> use for association tasks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Slow run time (O(n^2))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727800" y="5611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KNN: Results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(insert table here)</a:t>
            </a:r>
            <a:endParaRPr/>
          </a:p>
        </p:txBody>
      </p:sp>
      <p:sp>
        <p:nvSpPr>
          <p:cNvPr id="208" name="Google Shape;208;p3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025" y="1318650"/>
            <a:ext cx="4436324" cy="2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/>
          <p:nvPr/>
        </p:nvSpPr>
        <p:spPr>
          <a:xfrm>
            <a:off x="5559850" y="3368850"/>
            <a:ext cx="243600" cy="243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50" y="1318650"/>
            <a:ext cx="4502548" cy="3830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KNN: Results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Lowest RMSE at k = 19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Drop slows off at k = 7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Chose K = 7 to avoid overfitting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Test RMSE: 0.795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On average, our predictions are off by 0.795 log dollars</a:t>
            </a:r>
            <a:endParaRPr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1581900" y="2136900"/>
            <a:ext cx="59802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Method 2: Elastic Net</a:t>
            </a:r>
            <a:endParaRPr sz="4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</a:t>
            </a:r>
            <a:endParaRPr/>
          </a:p>
        </p:txBody>
      </p:sp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729325" y="1853850"/>
            <a:ext cx="3774300" cy="24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/>
              <a:t>Reasons</a:t>
            </a:r>
            <a:endParaRPr sz="1500" u="sng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High correlation between explanatory variables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Increases variance of coefficients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My data had high correlation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Minutes, forward zone passes in particular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Penalty term added to shrink coefficients towards 0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Fits linear regression model with penalized terms</a:t>
            </a:r>
            <a:endParaRPr sz="1500"/>
          </a:p>
        </p:txBody>
      </p:sp>
      <p:sp>
        <p:nvSpPr>
          <p:cNvPr id="229" name="Google Shape;229;p3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4"/>
          <p:cNvPicPr preferRelativeResize="0"/>
          <p:nvPr/>
        </p:nvPicPr>
        <p:blipFill rotWithShape="1">
          <a:blip r:embed="rId3">
            <a:alphaModFix/>
          </a:blip>
          <a:srcRect b="0" l="17986" r="13100" t="0"/>
          <a:stretch/>
        </p:blipFill>
        <p:spPr>
          <a:xfrm>
            <a:off x="4315400" y="707053"/>
            <a:ext cx="4693726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Net: Description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729325" y="1786250"/>
            <a:ext cx="3774300" cy="3357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 regression model that minimizes: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Where 𝜆 &gt;= 0 and 0 &lt;= ⍺ &lt;= 1 are scalars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Penalty term on residual sum of squares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Fit elastic net models from alpha in [0,1] for different lambda values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Choose one with lowest test RMSE w/ 10-fold CV</a:t>
            </a:r>
            <a:br>
              <a:rPr lang="en"/>
            </a:br>
            <a:endParaRPr/>
          </a:p>
        </p:txBody>
      </p:sp>
      <p:sp>
        <p:nvSpPr>
          <p:cNvPr id="237" name="Google Shape;237;p35"/>
          <p:cNvSpPr txBox="1"/>
          <p:nvPr>
            <p:ph idx="2" type="body"/>
          </p:nvPr>
        </p:nvSpPr>
        <p:spPr>
          <a:xfrm>
            <a:off x="4643600" y="1786375"/>
            <a:ext cx="3774300" cy="317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Pros and Cons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Pros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Handle correlated features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Can perform selection (some coefficients = 0)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Biased coefficients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Can be computationally </a:t>
            </a:r>
            <a:r>
              <a:rPr lang="en" sz="1700"/>
              <a:t>expensive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38" name="Google Shape;238;p35"/>
          <p:cNvPicPr preferRelativeResize="0"/>
          <p:nvPr/>
        </p:nvPicPr>
        <p:blipFill rotWithShape="1">
          <a:blip r:embed="rId3">
            <a:alphaModFix/>
          </a:blip>
          <a:srcRect b="0" l="0" r="0" t="21917"/>
          <a:stretch/>
        </p:blipFill>
        <p:spPr>
          <a:xfrm>
            <a:off x="858200" y="2209800"/>
            <a:ext cx="35165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Net: Results</a:t>
            </a:r>
            <a:endParaRPr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u="sng"/>
              <a:t>Final Model:</a:t>
            </a:r>
            <a:endParaRPr b="1" sz="2300" u="sng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𝜆 = .64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⍺ = .01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RMSE: 0.756</a:t>
            </a:r>
            <a:endParaRPr sz="2300"/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974" y="0"/>
            <a:ext cx="316185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1044300" y="2150400"/>
            <a:ext cx="7055400" cy="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Method 3: Random Forests</a:t>
            </a:r>
            <a:endParaRPr sz="4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Reasons</a:t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Similar to K-NN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Does not require a shape assumption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Uses regression trees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Assumes clusters in data based on features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Can be very powerful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729325" y="1853850"/>
            <a:ext cx="3774300" cy="24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/>
              <a:t>Algorithm</a:t>
            </a:r>
            <a:endParaRPr b="1" sz="1500" u="sng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Fits multiple regression trees (split data at nodes based on features)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Uses bootstrapped sample to fit many trees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Takes average predicted value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 points not in current tree to test predictive accuracy</a:t>
            </a:r>
            <a:endParaRPr sz="1500"/>
          </a:p>
        </p:txBody>
      </p:sp>
      <p:sp>
        <p:nvSpPr>
          <p:cNvPr id="263" name="Google Shape;263;p39"/>
          <p:cNvSpPr txBox="1"/>
          <p:nvPr>
            <p:ph idx="2" type="body"/>
          </p:nvPr>
        </p:nvSpPr>
        <p:spPr>
          <a:xfrm>
            <a:off x="4643600" y="1853875"/>
            <a:ext cx="3774300" cy="24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Pros and Cons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Handles different shapes/clusters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Handles outliers well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Can see some association with individual trees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Individual trees prone to overfitting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Computationally expensive (fit 10000 trees)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type="title"/>
          </p:nvPr>
        </p:nvSpPr>
        <p:spPr>
          <a:xfrm>
            <a:off x="161325" y="134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Results</a:t>
            </a:r>
            <a:endParaRPr/>
          </a:p>
        </p:txBody>
      </p:sp>
      <p:sp>
        <p:nvSpPr>
          <p:cNvPr id="277" name="Google Shape;277;p41"/>
          <p:cNvSpPr txBox="1"/>
          <p:nvPr>
            <p:ph idx="1" type="body"/>
          </p:nvPr>
        </p:nvSpPr>
        <p:spPr>
          <a:xfrm>
            <a:off x="215450" y="2051825"/>
            <a:ext cx="3126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Using 10,000 trees, got RMSE of 0.787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 average, predictions of log dollars off by 0.787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Slightly better than KNN, worse than Elastic Net</a:t>
            </a:r>
            <a:endParaRPr/>
          </a:p>
        </p:txBody>
      </p:sp>
      <p:pic>
        <p:nvPicPr>
          <p:cNvPr id="278" name="Google Shape;2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650" y="1482000"/>
            <a:ext cx="5501351" cy="3400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title"/>
          </p:nvPr>
        </p:nvSpPr>
        <p:spPr>
          <a:xfrm>
            <a:off x="2856900" y="2143650"/>
            <a:ext cx="34302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Conclusions</a:t>
            </a:r>
            <a:endParaRPr sz="4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RMSEs</a:t>
            </a:r>
            <a:endParaRPr/>
          </a:p>
        </p:txBody>
      </p:sp>
      <p:graphicFrame>
        <p:nvGraphicFramePr>
          <p:cNvPr id="289" name="Google Shape;289;p43"/>
          <p:cNvGraphicFramePr/>
          <p:nvPr/>
        </p:nvGraphicFramePr>
        <p:xfrm>
          <a:off x="476250" y="18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{8B9CED23-FE2C-451A-93BD-A362E641C51A}</a:tableStyleId>
              </a:tblPr>
              <a:tblGrid>
                <a:gridCol w="2047875"/>
                <a:gridCol w="2047875"/>
                <a:gridCol w="2047875"/>
                <a:gridCol w="2047875"/>
              </a:tblGrid>
              <a:tr h="9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 u="sng"/>
                        <a:t>Method:</a:t>
                      </a:r>
                      <a:endParaRPr b="1" sz="1900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K-NN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Elastic Net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Random Forests</a:t>
                      </a:r>
                      <a:endParaRPr b="1" sz="1900"/>
                    </a:p>
                  </a:txBody>
                  <a:tcPr marT="91425" marB="91425" marR="91425" marL="91425"/>
                </a:tc>
              </a:tr>
              <a:tr h="9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Test RMSE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0.794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0.753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0.787</a:t>
                      </a:r>
                      <a:endParaRPr sz="1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RMSEs</a:t>
            </a:r>
            <a:endParaRPr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27650" y="26350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Range of log dollars is 15.82-11.09 = 4.73</a:t>
            </a:r>
            <a:endParaRPr sz="1800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Best RMSE (0.753) is off by  15.9% of the range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Not great, not bad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K-NN is 16.8%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Forest is 16.6%</a:t>
            </a:r>
            <a:endParaRPr sz="1800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Thus, out of these, I would choose the Elastic Net Model</a:t>
            </a:r>
            <a:endParaRPr sz="1800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Performance likely improves with: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More variables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More data</a:t>
            </a:r>
            <a:endParaRPr sz="1800"/>
          </a:p>
        </p:txBody>
      </p:sp>
      <p:pic>
        <p:nvPicPr>
          <p:cNvPr id="296" name="Google Shape;2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50" y="1853850"/>
            <a:ext cx="8839204" cy="78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Set: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https://www.kaggle.com/datasets/viv6369/mls-season-2021-players-stats-and-their-salaries?select=Stats_description.txt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